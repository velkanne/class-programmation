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466867-61E0-07BD-B14C-A6FD48E31E61}" v="63" dt="2025-08-04T20:39:53.892"/>
    <p1510:client id="{B42D09E2-F7FD-32D9-3489-FDBE7DC1BFC2}" v="1052" dt="2025-08-05T02:57:35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847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725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636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51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0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901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3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506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330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281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2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8452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://frshman15.deviantart.com/art/Netflix-Logo-300872812" TargetMode="External"/><Relationship Id="rId7" Type="http://schemas.openxmlformats.org/officeDocument/2006/relationships/hyperlink" Target="https://be-tarask.wikipedia.org/wiki/Google_search" TargetMode="External"/><Relationship Id="rId12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hyperlink" Target="http://www.pngall.com/uber-png" TargetMode="External"/><Relationship Id="rId5" Type="http://schemas.openxmlformats.org/officeDocument/2006/relationships/hyperlink" Target="https://practicaldistributism.blogspot.com/p/getting-started.html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hyperlink" Target="https://sakomar.blogspot.com/2014/09/recensione-cose-che-nessuno-sa-di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ehind-the-scenes.net/tag/java/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750" y="1139122"/>
            <a:ext cx="5130071" cy="2291324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s-ES" sz="6000" dirty="0"/>
              <a:t>Programación</a:t>
            </a:r>
            <a:br>
              <a:rPr lang="es-ES" sz="6000" dirty="0"/>
            </a:br>
            <a:r>
              <a:rPr lang="es-ES" sz="6000" dirty="0"/>
              <a:t>Java y POO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248982" y="5187821"/>
            <a:ext cx="2401425" cy="960120"/>
          </a:xfr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s-ES" sz="1300"/>
              <a:t>MODULO PROGRAMACIÓN</a:t>
            </a:r>
          </a:p>
          <a:p>
            <a:pPr algn="r">
              <a:lnSpc>
                <a:spcPct val="100000"/>
              </a:lnSpc>
            </a:pPr>
            <a:r>
              <a:rPr lang="es-ES" sz="1300"/>
              <a:t>CFT LOS RIOS</a:t>
            </a:r>
          </a:p>
          <a:p>
            <a:pPr algn="r">
              <a:lnSpc>
                <a:spcPct val="100000"/>
              </a:lnSpc>
            </a:pPr>
            <a:r>
              <a:rPr lang="es-ES" sz="1300"/>
              <a:t>DOCENTE HENRRY ALOCILLA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D14320-D906-509A-E277-EA2D9D31B75E}"/>
              </a:ext>
            </a:extLst>
          </p:cNvPr>
          <p:cNvSpPr txBox="1"/>
          <p:nvPr/>
        </p:nvSpPr>
        <p:spPr>
          <a:xfrm>
            <a:off x="242371" y="2722214"/>
            <a:ext cx="1175630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¿QUIEN HA USADO UNA APLICACION CREADA CON JAVA?</a:t>
            </a:r>
            <a:endParaRPr lang="en-US" sz="4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D4CFC-77CF-0871-5810-0C602600C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5369" y="4042731"/>
            <a:ext cx="2454008" cy="24448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922E61-73D6-BC1B-237A-4B650DE54C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40036" y="459037"/>
            <a:ext cx="1955494" cy="19554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848F89-67E4-8C38-0140-9E6DAD6F0B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907545" y="627158"/>
            <a:ext cx="4762500" cy="16192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A4DA35-F6AE-DC79-00D2-703D1252AA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481481" y="305349"/>
            <a:ext cx="1950724" cy="19507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2735F4-881C-5C07-9BEE-AB7135403FD7}"/>
              </a:ext>
            </a:extLst>
          </p:cNvPr>
          <p:cNvSpPr txBox="1"/>
          <p:nvPr/>
        </p:nvSpPr>
        <p:spPr>
          <a:xfrm>
            <a:off x="9482118" y="2255436"/>
            <a:ext cx="1949450" cy="317500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r>
              <a:rPr lang="en-US"/>
              <a:t>ThePhoto de PhotoAuthor se concede bajo licencia de CCYYSA.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2BD0E9-6F3D-B3A2-522F-BB240677CB07}"/>
              </a:ext>
            </a:extLst>
          </p:cNvPr>
          <p:cNvSpPr txBox="1"/>
          <p:nvPr/>
        </p:nvSpPr>
        <p:spPr>
          <a:xfrm>
            <a:off x="7059975" y="6427844"/>
            <a:ext cx="4865784" cy="124705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r>
              <a:rPr lang="en-US"/>
              <a:t>ThePhoto de PhotoAuthor se concede bajo licencia de CCYYSA.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424A88-3B73-4F66-2C06-490816A459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 l="49138" r="-32" b="-508"/>
          <a:stretch>
            <a:fillRect/>
          </a:stretch>
        </p:blipFill>
        <p:spPr>
          <a:xfrm>
            <a:off x="8987999" y="4040821"/>
            <a:ext cx="2925451" cy="2494583"/>
          </a:xfrm>
          <a:prstGeom prst="rect">
            <a:avLst/>
          </a:prstGeom>
        </p:spPr>
      </p:pic>
      <p:pic>
        <p:nvPicPr>
          <p:cNvPr id="23" name="Picture 22" descr="Free stock photo of image, linkedin, website">
            <a:extLst>
              <a:ext uri="{FF2B5EF4-FFF2-40B4-BE49-F238E27FC236}">
                <a16:creationId xmlns:a16="http://schemas.microsoft.com/office/drawing/2014/main" id="{035FB2E2-EE8F-E287-49F2-5A5DBE2B3B3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0643" t="30786" r="15562" b="34519"/>
          <a:stretch>
            <a:fillRect/>
          </a:stretch>
        </p:blipFill>
        <p:spPr>
          <a:xfrm>
            <a:off x="4351663" y="4821589"/>
            <a:ext cx="3874277" cy="120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1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26A67B-0CB1-9738-5645-07CC3331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¿Que </a:t>
            </a:r>
            <a:r>
              <a:rPr lang="en-US" dirty="0" err="1"/>
              <a:t>aprenderemos</a:t>
            </a:r>
            <a:r>
              <a:rPr lang="en-US" dirty="0"/>
              <a:t> hoy?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ECF43C4B-DABE-647F-627F-9D02E4F69F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9548" y="1065026"/>
            <a:ext cx="4729907" cy="472072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0F4F6-B833-29CB-095A-1A6C226AD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773" y="2277264"/>
            <a:ext cx="4450481" cy="29621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i="0" err="1">
                <a:ea typeface="+mn-lt"/>
                <a:cs typeface="+mn-lt"/>
              </a:rPr>
              <a:t>Entender</a:t>
            </a:r>
            <a:r>
              <a:rPr lang="en-US" i="0" dirty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qué</a:t>
            </a:r>
            <a:r>
              <a:rPr lang="en-US" i="0">
                <a:ea typeface="+mn-lt"/>
                <a:cs typeface="+mn-lt"/>
              </a:rPr>
              <a:t> es Java y sus </a:t>
            </a:r>
            <a:r>
              <a:rPr lang="en-US" i="0" err="1">
                <a:ea typeface="+mn-lt"/>
                <a:cs typeface="+mn-lt"/>
              </a:rPr>
              <a:t>características</a:t>
            </a:r>
            <a:r>
              <a:rPr lang="en-US" i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generales</a:t>
            </a:r>
            <a:endParaRPr lang="en-US" err="1"/>
          </a:p>
          <a:p>
            <a:r>
              <a:rPr lang="en-US" i="0" err="1">
                <a:ea typeface="+mn-lt"/>
                <a:cs typeface="+mn-lt"/>
              </a:rPr>
              <a:t>Comprender</a:t>
            </a:r>
            <a:r>
              <a:rPr lang="en-US" i="0" dirty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los</a:t>
            </a:r>
            <a:r>
              <a:rPr lang="en-US" i="0" dirty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conceptos</a:t>
            </a:r>
            <a:r>
              <a:rPr lang="en-US" i="0" dirty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fundamentales</a:t>
            </a:r>
            <a:r>
              <a:rPr lang="en-US" i="0">
                <a:ea typeface="+mn-lt"/>
                <a:cs typeface="+mn-lt"/>
              </a:rPr>
              <a:t> de la </a:t>
            </a:r>
            <a:r>
              <a:rPr lang="en-US" i="0" err="1">
                <a:ea typeface="+mn-lt"/>
                <a:cs typeface="+mn-lt"/>
              </a:rPr>
              <a:t>Programación</a:t>
            </a:r>
            <a:r>
              <a:rPr lang="en-US" i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Orientada</a:t>
            </a:r>
            <a:r>
              <a:rPr lang="en-US" i="0">
                <a:ea typeface="+mn-lt"/>
                <a:cs typeface="+mn-lt"/>
              </a:rPr>
              <a:t> a Objetos</a:t>
            </a:r>
            <a:endParaRPr lang="en-US"/>
          </a:p>
          <a:p>
            <a:r>
              <a:rPr lang="en-US" i="0" err="1">
                <a:ea typeface="+mn-lt"/>
                <a:cs typeface="+mn-lt"/>
              </a:rPr>
              <a:t>Reconocer</a:t>
            </a:r>
            <a:r>
              <a:rPr lang="en-US" i="0">
                <a:ea typeface="+mn-lt"/>
                <a:cs typeface="+mn-lt"/>
              </a:rPr>
              <a:t> la </a:t>
            </a:r>
            <a:r>
              <a:rPr lang="en-US" i="0" err="1">
                <a:ea typeface="+mn-lt"/>
                <a:cs typeface="+mn-lt"/>
              </a:rPr>
              <a:t>estructura</a:t>
            </a:r>
            <a:r>
              <a:rPr lang="en-US" i="0" dirty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mínima</a:t>
            </a:r>
            <a:r>
              <a:rPr lang="en-US" i="0">
                <a:ea typeface="+mn-lt"/>
                <a:cs typeface="+mn-lt"/>
              </a:rPr>
              <a:t> de un </a:t>
            </a:r>
            <a:r>
              <a:rPr lang="en-US" i="0" err="1">
                <a:ea typeface="+mn-lt"/>
                <a:cs typeface="+mn-lt"/>
              </a:rPr>
              <a:t>programa</a:t>
            </a:r>
            <a:r>
              <a:rPr lang="en-US" i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en</a:t>
            </a:r>
            <a:r>
              <a:rPr lang="en-US" i="0">
                <a:ea typeface="+mn-lt"/>
                <a:cs typeface="+mn-lt"/>
              </a:rPr>
              <a:t> Java</a:t>
            </a:r>
            <a:endParaRPr lang="en-US"/>
          </a:p>
          <a:p>
            <a:r>
              <a:rPr lang="en-US" i="0" err="1">
                <a:ea typeface="+mn-lt"/>
                <a:cs typeface="+mn-lt"/>
              </a:rPr>
              <a:t>Conocer</a:t>
            </a:r>
            <a:r>
              <a:rPr lang="en-US" i="0" dirty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el</a:t>
            </a:r>
            <a:r>
              <a:rPr lang="en-US" i="0" dirty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entorno</a:t>
            </a:r>
            <a:r>
              <a:rPr lang="en-US" i="0">
                <a:ea typeface="+mn-lt"/>
                <a:cs typeface="+mn-lt"/>
              </a:rPr>
              <a:t> que se </a:t>
            </a:r>
            <a:r>
              <a:rPr lang="en-US" i="0" err="1">
                <a:ea typeface="+mn-lt"/>
                <a:cs typeface="+mn-lt"/>
              </a:rPr>
              <a:t>utilizará</a:t>
            </a:r>
            <a:r>
              <a:rPr lang="en-US" i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en</a:t>
            </a:r>
            <a:r>
              <a:rPr lang="en-US" i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el</a:t>
            </a:r>
            <a:r>
              <a:rPr lang="en-US" i="0">
                <a:ea typeface="+mn-lt"/>
                <a:cs typeface="+mn-lt"/>
              </a:rPr>
              <a:t> </a:t>
            </a:r>
            <a:r>
              <a:rPr lang="en-US" i="0" err="1">
                <a:ea typeface="+mn-lt"/>
                <a:cs typeface="+mn-lt"/>
              </a:rPr>
              <a:t>módulo</a:t>
            </a:r>
            <a:r>
              <a:rPr lang="en-US" i="0">
                <a:ea typeface="+mn-lt"/>
                <a:cs typeface="+mn-lt"/>
              </a:rPr>
              <a:t> (VS Code + JDK)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60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8C8C8-6013-8D13-31FD-58D1AE75E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8016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0" dirty="0">
                <a:ea typeface="+mj-lt"/>
                <a:cs typeface="+mj-lt"/>
              </a:rPr>
              <a:t>¿</a:t>
            </a:r>
            <a:r>
              <a:rPr lang="en-US" b="0" dirty="0" err="1">
                <a:ea typeface="+mj-lt"/>
                <a:cs typeface="+mj-lt"/>
              </a:rPr>
              <a:t>Qué</a:t>
            </a:r>
            <a:r>
              <a:rPr lang="en-US" b="0" dirty="0">
                <a:ea typeface="+mj-lt"/>
                <a:cs typeface="+mj-lt"/>
              </a:rPr>
              <a:t> es Java?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8243C-D7A1-01B8-B695-22B592A76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1776" y="1845784"/>
            <a:ext cx="4553646" cy="3880230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 es un </a:t>
            </a:r>
            <a:r>
              <a:rPr lang="en-US" sz="3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lenguaje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3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programación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3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propósito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general, </a:t>
            </a:r>
            <a:r>
              <a:rPr lang="en-US" sz="3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orientado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3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objetos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 </a:t>
            </a:r>
            <a:r>
              <a:rPr lang="en-US" sz="3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ejecuta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una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máquina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virtual (JVM), lo que </a:t>
            </a:r>
            <a:r>
              <a:rPr lang="en-US" sz="3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permite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portabilidad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entre </a:t>
            </a:r>
            <a:r>
              <a:rPr lang="en-US" sz="3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sistemas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ampliamente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usado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backend,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aplicaciones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móviles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(Android) y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sistemas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empresariales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“Escribe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una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vez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ejecuta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cualquier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parte</a:t>
            </a: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” (WORA).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7081-A87E-25F8-33C0-6D28ECDB4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85A58-3A45-46A0-8C83-0C63C28D7A0A}" type="datetime1">
              <a:t>8/4/2025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75E53-A6A0-9310-7C3E-7074658DD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AC7F6-EF55-EDE9-4666-FB4B3E95F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D0D285-E3DE-5C9A-8350-88271E34D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416626" y="1652529"/>
            <a:ext cx="5866482" cy="14872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4674B3-25D7-1F46-6E7C-E95E09200F4B}"/>
              </a:ext>
            </a:extLst>
          </p:cNvPr>
          <p:cNvSpPr txBox="1"/>
          <p:nvPr/>
        </p:nvSpPr>
        <p:spPr>
          <a:xfrm>
            <a:off x="5418593" y="3502708"/>
            <a:ext cx="586792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dirty="0">
                <a:solidFill>
                  <a:srgbClr val="EEF0FF"/>
                </a:solidFill>
                <a:ea typeface="+mn-lt"/>
                <a:cs typeface="+mn-lt"/>
              </a:rPr>
              <a:t>"Write Once, Run Anywhere"</a:t>
            </a:r>
            <a:endParaRPr lang="en-US" sz="3200" dirty="0">
              <a:solidFill>
                <a:srgbClr val="EEF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841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E3C90-CC31-3FC0-1C05-BF10C902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291" y="638563"/>
            <a:ext cx="9956747" cy="14387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0" err="1">
                <a:ea typeface="+mj-lt"/>
                <a:cs typeface="+mj-lt"/>
              </a:rPr>
              <a:t>Características</a:t>
            </a:r>
            <a:r>
              <a:rPr lang="en-US" b="0" dirty="0">
                <a:ea typeface="+mj-lt"/>
                <a:cs typeface="+mj-lt"/>
              </a:rPr>
              <a:t> clave de Java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CB9EA-D623-BCB6-31BB-68497ECBF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EF93C-9F7D-404A-B7F7-4B0F80657674}" type="datetime1"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B07E2-5926-B1B1-8BC9-3E033344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05565-91C8-6065-30B1-A55FC1F4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5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B1FBFB-8AF1-C484-3156-D21180984B58}"/>
              </a:ext>
            </a:extLst>
          </p:cNvPr>
          <p:cNvSpPr txBox="1"/>
          <p:nvPr/>
        </p:nvSpPr>
        <p:spPr>
          <a:xfrm>
            <a:off x="1474425" y="2240750"/>
            <a:ext cx="3826524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/>
              <a:t>Sintaxis</a:t>
            </a:r>
            <a:r>
              <a:rPr lang="en-US" sz="2000" dirty="0"/>
              <a:t> similar a C++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096EB-B03D-0F2B-820A-BAA8AAC9022F}"/>
              </a:ext>
            </a:extLst>
          </p:cNvPr>
          <p:cNvSpPr txBox="1"/>
          <p:nvPr/>
        </p:nvSpPr>
        <p:spPr>
          <a:xfrm>
            <a:off x="1474424" y="4733318"/>
            <a:ext cx="3826525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/>
              <a:t>Fuertemente</a:t>
            </a:r>
            <a:r>
              <a:rPr lang="en-US" sz="2000" dirty="0"/>
              <a:t> </a:t>
            </a:r>
            <a:r>
              <a:rPr lang="en-US" sz="2000" err="1"/>
              <a:t>tipado</a:t>
            </a:r>
            <a:endParaRPr lang="en-US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378665-E7E8-9D55-0056-BF531BEDFACE}"/>
              </a:ext>
            </a:extLst>
          </p:cNvPr>
          <p:cNvSpPr txBox="1"/>
          <p:nvPr/>
        </p:nvSpPr>
        <p:spPr>
          <a:xfrm>
            <a:off x="6441196" y="4581572"/>
            <a:ext cx="3826524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Gran </a:t>
            </a:r>
            <a:r>
              <a:rPr lang="en-US" sz="2000" err="1"/>
              <a:t>ecosistema</a:t>
            </a:r>
            <a:r>
              <a:rPr lang="en-US" sz="2000" dirty="0"/>
              <a:t> (IDE, </a:t>
            </a:r>
            <a:r>
              <a:rPr lang="en-US" sz="2000" err="1"/>
              <a:t>librerías</a:t>
            </a:r>
            <a:r>
              <a:rPr lang="en-US" sz="2000" dirty="0"/>
              <a:t>, frameworks)</a:t>
            </a:r>
            <a:endParaRPr 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B68AC1-A51E-A55F-05D2-09B29B21FA80}"/>
              </a:ext>
            </a:extLst>
          </p:cNvPr>
          <p:cNvSpPr txBox="1"/>
          <p:nvPr/>
        </p:nvSpPr>
        <p:spPr>
          <a:xfrm>
            <a:off x="6441197" y="2240751"/>
            <a:ext cx="3826523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Seguro, </a:t>
            </a:r>
            <a:r>
              <a:rPr lang="en-US" sz="2000" err="1"/>
              <a:t>robusto</a:t>
            </a:r>
            <a:r>
              <a:rPr lang="en-US" sz="2000" dirty="0"/>
              <a:t>, portable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E329E1-25B9-13C6-6E23-4F857DF9F1D3}"/>
              </a:ext>
            </a:extLst>
          </p:cNvPr>
          <p:cNvSpPr txBox="1"/>
          <p:nvPr/>
        </p:nvSpPr>
        <p:spPr>
          <a:xfrm>
            <a:off x="1474424" y="2970882"/>
            <a:ext cx="382652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Facilita</a:t>
            </a:r>
            <a:r>
              <a:rPr lang="en-US" dirty="0"/>
              <a:t> la </a:t>
            </a:r>
            <a:r>
              <a:rPr lang="en-US" dirty="0" err="1"/>
              <a:t>transición</a:t>
            </a:r>
            <a:r>
              <a:rPr lang="en-US" dirty="0"/>
              <a:t> para </a:t>
            </a:r>
            <a:r>
              <a:rPr lang="en-US" dirty="0" err="1"/>
              <a:t>quienes</a:t>
            </a:r>
            <a:r>
              <a:rPr lang="en-US" dirty="0"/>
              <a:t> </a:t>
            </a:r>
            <a:r>
              <a:rPr lang="en-US" dirty="0" err="1"/>
              <a:t>vienen</a:t>
            </a:r>
            <a:r>
              <a:rPr lang="en-US" dirty="0"/>
              <a:t> de C++ o </a:t>
            </a:r>
            <a:r>
              <a:rPr lang="en-US" dirty="0" err="1"/>
              <a:t>lenguajes</a:t>
            </a:r>
            <a:r>
              <a:rPr lang="en-US" dirty="0"/>
              <a:t> </a:t>
            </a:r>
            <a:r>
              <a:rPr lang="en-US" dirty="0" err="1"/>
              <a:t>similares</a:t>
            </a:r>
            <a:r>
              <a:rPr lang="en-US" dirty="0"/>
              <a:t>. (</a:t>
            </a:r>
            <a:r>
              <a:rPr lang="en-US" dirty="0">
                <a:ea typeface="+mn-lt"/>
                <a:cs typeface="+mn-lt"/>
              </a:rPr>
              <a:t>Kotlin</a:t>
            </a:r>
            <a:r>
              <a:rPr lang="en-US" dirty="0"/>
              <a:t>, </a:t>
            </a:r>
            <a:r>
              <a:rPr lang="en-US" dirty="0">
                <a:ea typeface="+mn-lt"/>
                <a:cs typeface="+mn-lt"/>
              </a:rPr>
              <a:t>Scala</a:t>
            </a:r>
            <a:r>
              <a:rPr lang="en-US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0F5310-7C17-BE87-53B1-9A9BB7C28776}"/>
              </a:ext>
            </a:extLst>
          </p:cNvPr>
          <p:cNvSpPr txBox="1"/>
          <p:nvPr/>
        </p:nvSpPr>
        <p:spPr>
          <a:xfrm>
            <a:off x="1474424" y="5284424"/>
            <a:ext cx="382652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Ayuda a prevenir errores en tiempo de ejecución al verificar tipos de datos."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FC0E9D-5380-4E67-7816-463FDE2D2527}"/>
              </a:ext>
            </a:extLst>
          </p:cNvPr>
          <p:cNvSpPr txBox="1"/>
          <p:nvPr/>
        </p:nvSpPr>
        <p:spPr>
          <a:xfrm>
            <a:off x="6441195" y="5284424"/>
            <a:ext cx="382652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Amplia</a:t>
            </a:r>
            <a:r>
              <a:rPr lang="en-US" dirty="0"/>
              <a:t> </a:t>
            </a:r>
            <a:r>
              <a:rPr lang="en-US" dirty="0" err="1"/>
              <a:t>variedad</a:t>
            </a:r>
            <a:r>
              <a:rPr lang="en-US" dirty="0"/>
              <a:t> de </a:t>
            </a:r>
            <a:r>
              <a:rPr lang="en-US" dirty="0" err="1"/>
              <a:t>herramientas</a:t>
            </a:r>
            <a:r>
              <a:rPr lang="en-US" dirty="0"/>
              <a:t> (IDEs), </a:t>
            </a:r>
            <a:r>
              <a:rPr lang="en-US" dirty="0" err="1"/>
              <a:t>librerías</a:t>
            </a:r>
            <a:r>
              <a:rPr lang="en-US" dirty="0"/>
              <a:t> y frameworks para </a:t>
            </a:r>
            <a:r>
              <a:rPr lang="en-US" dirty="0" err="1"/>
              <a:t>facilitar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desarrollo</a:t>
            </a:r>
            <a:r>
              <a:rPr lang="en-US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DBDB0B-4791-AF17-9781-E1AC697C12C5}"/>
              </a:ext>
            </a:extLst>
          </p:cNvPr>
          <p:cNvSpPr txBox="1"/>
          <p:nvPr/>
        </p:nvSpPr>
        <p:spPr>
          <a:xfrm>
            <a:off x="6441195" y="2970882"/>
            <a:ext cx="417539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Java es conocido por su seguridad, robustez (manejo de errores) y capacidad de ejecutarse en diversas plataformas.</a:t>
            </a:r>
          </a:p>
        </p:txBody>
      </p:sp>
    </p:spTree>
    <p:extLst>
      <p:ext uri="{BB962C8B-B14F-4D97-AF65-F5344CB8AC3E}">
        <p14:creationId xmlns:p14="http://schemas.microsoft.com/office/powerpoint/2010/main" val="1897655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F37C-726E-39A9-62E1-0575A45A0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573841"/>
            <a:ext cx="3951745" cy="1510628"/>
          </a:xfrm>
          <a:solidFill>
            <a:schemeClr val="accent1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0" dirty="0">
                <a:ea typeface="+mj-lt"/>
                <a:cs typeface="+mj-lt"/>
              </a:rPr>
              <a:t>¿</a:t>
            </a:r>
            <a:r>
              <a:rPr lang="en-US" b="0" err="1">
                <a:ea typeface="+mj-lt"/>
                <a:cs typeface="+mj-lt"/>
              </a:rPr>
              <a:t>Qué</a:t>
            </a:r>
            <a:r>
              <a:rPr lang="en-US" b="0" dirty="0">
                <a:ea typeface="+mj-lt"/>
                <a:cs typeface="+mj-lt"/>
              </a:rPr>
              <a:t> es la </a:t>
            </a:r>
            <a:r>
              <a:rPr lang="en-US" b="0" err="1">
                <a:ea typeface="+mj-lt"/>
                <a:cs typeface="+mj-lt"/>
              </a:rPr>
              <a:t>programación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err="1">
                <a:ea typeface="+mj-lt"/>
                <a:cs typeface="+mj-lt"/>
              </a:rPr>
              <a:t>orientada</a:t>
            </a:r>
            <a:r>
              <a:rPr lang="en-US" b="0" dirty="0">
                <a:ea typeface="+mj-lt"/>
                <a:cs typeface="+mj-lt"/>
              </a:rPr>
              <a:t> a </a:t>
            </a:r>
            <a:r>
              <a:rPr lang="en-US" b="0" err="1">
                <a:ea typeface="+mj-lt"/>
                <a:cs typeface="+mj-lt"/>
              </a:rPr>
              <a:t>objetos</a:t>
            </a:r>
            <a:r>
              <a:rPr lang="en-US" b="0" dirty="0">
                <a:ea typeface="+mj-lt"/>
                <a:cs typeface="+mj-lt"/>
              </a:rPr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66859-4215-0A23-95B6-4D7D4E8D7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231" y="252597"/>
            <a:ext cx="4055794" cy="608852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// </a:t>
            </a:r>
            <a:r>
              <a:rPr lang="en-US" sz="1400" err="1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Definición</a:t>
            </a: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 de </a:t>
            </a:r>
            <a:r>
              <a:rPr lang="en-US" sz="1400" err="1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clase</a:t>
            </a:r>
            <a:endParaRPr lang="en-US" sz="140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public class Animal {</a:t>
            </a:r>
            <a:endParaRPr lang="en-US" sz="140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    // </a:t>
            </a:r>
            <a:r>
              <a:rPr lang="en-US" sz="1400" err="1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Atributos</a:t>
            </a:r>
            <a:endParaRPr lang="en-US" sz="140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    String </a:t>
            </a:r>
            <a:r>
              <a:rPr lang="en-US" sz="1400" err="1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especie</a:t>
            </a: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;</a:t>
            </a:r>
            <a:endParaRPr lang="en-US" sz="140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    int </a:t>
            </a:r>
            <a:r>
              <a:rPr lang="en-US" sz="1400" err="1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edad</a:t>
            </a: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;</a:t>
            </a:r>
            <a:endParaRPr lang="en-US" sz="140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}</a:t>
            </a:r>
          </a:p>
          <a:p>
            <a:pPr>
              <a:buNone/>
            </a:pPr>
            <a:r>
              <a:rPr lang="en-US" sz="1400" dirty="0">
                <a:solidFill>
                  <a:schemeClr val="accent1"/>
                </a:solidFill>
                <a:ea typeface="+mn-lt"/>
                <a:cs typeface="+mn-lt"/>
              </a:rPr>
              <a:t>// </a:t>
            </a:r>
            <a:r>
              <a:rPr lang="en-US" sz="1400" err="1">
                <a:solidFill>
                  <a:schemeClr val="accent1"/>
                </a:solidFill>
                <a:ea typeface="+mn-lt"/>
                <a:cs typeface="+mn-lt"/>
              </a:rPr>
              <a:t>Uso</a:t>
            </a:r>
            <a:r>
              <a:rPr lang="en-US" sz="1400" dirty="0">
                <a:solidFill>
                  <a:schemeClr val="accent1"/>
                </a:solidFill>
                <a:ea typeface="+mn-lt"/>
                <a:cs typeface="+mn-lt"/>
              </a:rPr>
              <a:t> de la </a:t>
            </a:r>
            <a:r>
              <a:rPr lang="en-US" sz="1400" err="1">
                <a:solidFill>
                  <a:schemeClr val="accent1"/>
                </a:solidFill>
                <a:ea typeface="+mn-lt"/>
                <a:cs typeface="+mn-lt"/>
              </a:rPr>
              <a:t>clase</a:t>
            </a:r>
            <a:endParaRPr lang="en-US" sz="140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1"/>
                </a:solidFill>
                <a:ea typeface="+mn-lt"/>
                <a:cs typeface="+mn-lt"/>
              </a:rPr>
              <a:t>public class Main {</a:t>
            </a:r>
            <a:endParaRPr lang="en-US" sz="140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1"/>
                </a:solidFill>
                <a:ea typeface="+mn-lt"/>
                <a:cs typeface="+mn-lt"/>
              </a:rPr>
              <a:t>    public static void main(String[] </a:t>
            </a:r>
            <a:r>
              <a:rPr lang="en-US" sz="1400" err="1">
                <a:solidFill>
                  <a:schemeClr val="accent1"/>
                </a:solidFill>
                <a:ea typeface="+mn-lt"/>
                <a:cs typeface="+mn-lt"/>
              </a:rPr>
              <a:t>args</a:t>
            </a:r>
            <a:r>
              <a:rPr lang="en-US" sz="1400" dirty="0">
                <a:solidFill>
                  <a:schemeClr val="accent1"/>
                </a:solidFill>
                <a:ea typeface="+mn-lt"/>
                <a:cs typeface="+mn-lt"/>
              </a:rPr>
              <a:t>) {</a:t>
            </a:r>
            <a:endParaRPr lang="en-US" sz="140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       </a:t>
            </a: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// Crear un 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objeto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 de la 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clase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 Animal</a:t>
            </a:r>
            <a:endParaRPr lang="en-US" sz="1400">
              <a:solidFill>
                <a:schemeClr val="accent3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        Animal gato = new Animal();</a:t>
            </a:r>
            <a:endParaRPr lang="en-US" sz="1400">
              <a:solidFill>
                <a:schemeClr val="accent3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        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gato.especie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 = "Felino";</a:t>
            </a:r>
            <a:endParaRPr lang="en-US" sz="1400">
              <a:solidFill>
                <a:schemeClr val="accent3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        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gato.edad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 = 3;</a:t>
            </a:r>
            <a:endParaRPr lang="en-US" sz="1400">
              <a:solidFill>
                <a:schemeClr val="accent3"/>
              </a:solidFill>
            </a:endParaRPr>
          </a:p>
          <a:p>
            <a:pPr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        // 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Mostrar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información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 del 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objeto</a:t>
            </a:r>
            <a:endParaRPr lang="en-US" sz="1400">
              <a:solidFill>
                <a:schemeClr val="accent3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        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System.out.println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("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Especie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: " + 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gato.especie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);</a:t>
            </a:r>
            <a:endParaRPr lang="en-US" sz="1400">
              <a:solidFill>
                <a:schemeClr val="accent3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        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System.out.println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("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Edad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: " + 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gato.edad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 + " </a:t>
            </a:r>
            <a:r>
              <a:rPr lang="en-US" sz="1400" err="1">
                <a:solidFill>
                  <a:schemeClr val="accent3"/>
                </a:solidFill>
                <a:ea typeface="+mn-lt"/>
                <a:cs typeface="+mn-lt"/>
              </a:rPr>
              <a:t>años</a:t>
            </a:r>
            <a:r>
              <a:rPr lang="en-US" sz="1400" dirty="0">
                <a:solidFill>
                  <a:schemeClr val="accent3"/>
                </a:solidFill>
                <a:ea typeface="+mn-lt"/>
                <a:cs typeface="+mn-lt"/>
              </a:rPr>
              <a:t>");</a:t>
            </a:r>
            <a:endParaRPr lang="en-US" sz="1400">
              <a:solidFill>
                <a:schemeClr val="accent3"/>
              </a:solidFill>
            </a:endParaRPr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   </a:t>
            </a:r>
            <a:r>
              <a:rPr lang="en-US" sz="1400" dirty="0">
                <a:solidFill>
                  <a:schemeClr val="accent1"/>
                </a:solidFill>
                <a:ea typeface="+mn-lt"/>
                <a:cs typeface="+mn-lt"/>
              </a:rPr>
              <a:t> }</a:t>
            </a:r>
            <a:endParaRPr lang="en-US" sz="140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1"/>
                </a:solidFill>
                <a:ea typeface="+mn-lt"/>
                <a:cs typeface="+mn-lt"/>
              </a:rPr>
              <a:t>}</a:t>
            </a:r>
            <a:endParaRPr lang="en-US" sz="1400">
              <a:solidFill>
                <a:schemeClr val="accent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232B54-422F-A263-906F-5F7ECA64A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773" y="2277264"/>
            <a:ext cx="3945541" cy="450453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800" dirty="0" err="1"/>
              <a:t>Paradigma</a:t>
            </a:r>
            <a:r>
              <a:rPr lang="en-US" sz="1800" dirty="0"/>
              <a:t> </a:t>
            </a:r>
            <a:r>
              <a:rPr lang="en-US" sz="1800" dirty="0" err="1"/>
              <a:t>basado</a:t>
            </a:r>
            <a:r>
              <a:rPr lang="en-US" sz="1800" dirty="0"/>
              <a:t> </a:t>
            </a:r>
            <a:r>
              <a:rPr lang="en-US" sz="1800" dirty="0" err="1"/>
              <a:t>en</a:t>
            </a:r>
            <a:r>
              <a:rPr lang="en-US" sz="1800" dirty="0"/>
              <a:t> </a:t>
            </a:r>
            <a:r>
              <a:rPr lang="en-US" sz="1800" dirty="0" err="1"/>
              <a:t>clases</a:t>
            </a:r>
            <a:r>
              <a:rPr lang="en-US" sz="1800" dirty="0"/>
              <a:t> y </a:t>
            </a:r>
            <a:r>
              <a:rPr lang="en-US" sz="1800" dirty="0" err="1"/>
              <a:t>objetos</a:t>
            </a:r>
            <a:endParaRPr lang="en-US" sz="1800" dirty="0"/>
          </a:p>
          <a:p>
            <a:r>
              <a:rPr lang="en-US" err="1"/>
              <a:t>Principales</a:t>
            </a:r>
            <a:r>
              <a:rPr lang="en-US" dirty="0"/>
              <a:t> </a:t>
            </a:r>
            <a:r>
              <a:rPr lang="en-US" err="1"/>
              <a:t>conceptos</a:t>
            </a:r>
            <a:r>
              <a:rPr lang="en-US" dirty="0"/>
              <a:t>:</a:t>
            </a:r>
          </a:p>
          <a:p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Clase(class):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  <a:ea typeface="+mn-lt"/>
              <a:cs typeface="+mn-lt"/>
            </a:endParaRPr>
          </a:p>
          <a:p>
            <a:r>
              <a:rPr lang="en-US" sz="1400" dirty="0" err="1">
                <a:solidFill>
                  <a:schemeClr val="accent3"/>
                </a:solidFill>
              </a:rPr>
              <a:t>Objeto</a:t>
            </a:r>
            <a:r>
              <a:rPr lang="en-US" sz="1400" dirty="0">
                <a:solidFill>
                  <a:schemeClr val="accent3"/>
                </a:solidFill>
              </a:rPr>
              <a:t>(object)</a:t>
            </a:r>
            <a:endParaRPr lang="en-US" sz="1400" dirty="0">
              <a:solidFill>
                <a:schemeClr val="accent3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rgbClr val="FFFFFF"/>
                </a:solidFill>
              </a:rPr>
              <a:t>Atributo</a:t>
            </a:r>
            <a:r>
              <a:rPr lang="en-US" sz="1400" dirty="0">
                <a:solidFill>
                  <a:srgbClr val="FFFFFF"/>
                </a:solidFill>
              </a:rPr>
              <a:t>(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attribute</a:t>
            </a:r>
            <a:r>
              <a:rPr lang="en-US" sz="1400" dirty="0">
                <a:solidFill>
                  <a:srgbClr val="FFFFFF"/>
                </a:solidFill>
              </a:rPr>
              <a:t>)</a:t>
            </a:r>
          </a:p>
          <a:p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Los 4 Pilares de la Programacion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Orientada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 a Objetos:</a:t>
            </a:r>
          </a:p>
          <a:p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Abstracción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(Abstraction)</a:t>
            </a:r>
            <a:endParaRPr lang="en-US" sz="1400" dirty="0" err="1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Herencia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(Inheritance)</a:t>
            </a:r>
          </a:p>
          <a:p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Polimorfismo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(Polymorphism)</a:t>
            </a:r>
            <a:endParaRPr lang="en-US" sz="1400" dirty="0" err="1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Encapsulamiento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(Encapsulation)</a:t>
            </a:r>
          </a:p>
          <a:p>
            <a:endParaRPr lang="en-US" sz="1400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1B45F-DF34-EBCB-529F-4EC0EA82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7DF33-64D2-4AC2-AB85-688333909C5D}" type="datetime1"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0F76-3BBF-4B23-3195-A0462E478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9B0C9-1120-D011-89DD-3322842B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055ABB-E3D2-95C4-C5CC-6E9CF5351C90}"/>
              </a:ext>
            </a:extLst>
          </p:cNvPr>
          <p:cNvSpPr txBox="1"/>
          <p:nvPr/>
        </p:nvSpPr>
        <p:spPr>
          <a:xfrm>
            <a:off x="9057701" y="189123"/>
            <a:ext cx="274320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5CECFF"/>
                </a:solidFill>
              </a:rPr>
              <a:t>Clase(class): Una </a:t>
            </a:r>
            <a:r>
              <a:rPr lang="en-US" sz="1400" b="1">
                <a:solidFill>
                  <a:srgbClr val="5CECFF"/>
                </a:solidFill>
              </a:rPr>
              <a:t>clase</a:t>
            </a:r>
            <a:r>
              <a:rPr lang="en-US" sz="1400">
                <a:solidFill>
                  <a:srgbClr val="5CECFF"/>
                </a:solidFill>
              </a:rPr>
              <a:t> es una estructura que define un tipo de objeto.</a:t>
            </a:r>
            <a:r>
              <a:rPr lang="en-US" sz="1400"/>
              <a:t>​</a:t>
            </a:r>
            <a:br>
              <a:rPr lang="en-US" sz="1400"/>
            </a:br>
            <a:r>
              <a:rPr lang="en-US" sz="1400">
                <a:solidFill>
                  <a:srgbClr val="5CECFF"/>
                </a:solidFill>
              </a:rPr>
              <a:t>Es un </a:t>
            </a:r>
            <a:r>
              <a:rPr lang="en-US" sz="1400" b="1">
                <a:solidFill>
                  <a:srgbClr val="5CECFF"/>
                </a:solidFill>
              </a:rPr>
              <a:t>molde</a:t>
            </a:r>
            <a:r>
              <a:rPr lang="en-US" sz="1400">
                <a:solidFill>
                  <a:srgbClr val="5CECFF"/>
                </a:solidFill>
              </a:rPr>
              <a:t> que describe qué atributos (datos) y métodos (acciones) tendrá un objeto.</a:t>
            </a:r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BF8F3A50-E7B9-F52F-E67C-0D8BBC7F97F3}"/>
              </a:ext>
            </a:extLst>
          </p:cNvPr>
          <p:cNvSpPr/>
          <p:nvPr/>
        </p:nvSpPr>
        <p:spPr>
          <a:xfrm>
            <a:off x="6643695" y="575499"/>
            <a:ext cx="2303967" cy="306505"/>
          </a:xfrm>
          <a:prstGeom prst="lef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5A0A0-013B-A98B-A839-602480D247EE}"/>
              </a:ext>
            </a:extLst>
          </p:cNvPr>
          <p:cNvSpPr txBox="1"/>
          <p:nvPr/>
        </p:nvSpPr>
        <p:spPr>
          <a:xfrm>
            <a:off x="9103605" y="1713123"/>
            <a:ext cx="274320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Atributo(): Un </a:t>
            </a:r>
            <a:r>
              <a:rPr lang="en-US" sz="1400" b="1"/>
              <a:t>atributo</a:t>
            </a:r>
            <a:r>
              <a:rPr lang="en-US" sz="1400"/>
              <a:t> es una </a:t>
            </a:r>
            <a:r>
              <a:rPr lang="en-US" sz="1400" b="1"/>
              <a:t>variable definida dentro de una clase</a:t>
            </a:r>
            <a:r>
              <a:rPr lang="en-US" sz="1400"/>
              <a:t>, que representa una </a:t>
            </a:r>
            <a:r>
              <a:rPr lang="en-US" sz="1400" b="1"/>
              <a:t>característica o propiedad</a:t>
            </a:r>
            <a:r>
              <a:rPr lang="en-US" sz="1400"/>
              <a:t> de los objetos creados a partir de esa clase.​</a:t>
            </a:r>
            <a:endParaRPr lang="en-US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1913092B-F53A-EED9-777E-3E5104C5E5F0}"/>
              </a:ext>
            </a:extLst>
          </p:cNvPr>
          <p:cNvSpPr/>
          <p:nvPr/>
        </p:nvSpPr>
        <p:spPr>
          <a:xfrm rot="840000">
            <a:off x="6497861" y="1623996"/>
            <a:ext cx="2551846" cy="269783"/>
          </a:xfrm>
          <a:prstGeom prst="lef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59F75-337C-BAE1-7172-4D7C562147F4}"/>
              </a:ext>
            </a:extLst>
          </p:cNvPr>
          <p:cNvSpPr txBox="1"/>
          <p:nvPr/>
        </p:nvSpPr>
        <p:spPr>
          <a:xfrm>
            <a:off x="9103605" y="3429918"/>
            <a:ext cx="27432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00C777"/>
                </a:solidFill>
              </a:rPr>
              <a:t>Objeto(object): Un </a:t>
            </a:r>
            <a:r>
              <a:rPr lang="en-US" sz="1400" b="1">
                <a:solidFill>
                  <a:srgbClr val="00C777"/>
                </a:solidFill>
              </a:rPr>
              <a:t>objeto</a:t>
            </a:r>
            <a:r>
              <a:rPr lang="en-US" sz="1400">
                <a:solidFill>
                  <a:srgbClr val="00C777"/>
                </a:solidFill>
              </a:rPr>
              <a:t> es una </a:t>
            </a:r>
            <a:r>
              <a:rPr lang="en-US" sz="1400" b="1">
                <a:solidFill>
                  <a:srgbClr val="00C777"/>
                </a:solidFill>
              </a:rPr>
              <a:t>instancia concreta</a:t>
            </a:r>
            <a:r>
              <a:rPr lang="en-US" sz="1400">
                <a:solidFill>
                  <a:srgbClr val="00C777"/>
                </a:solidFill>
              </a:rPr>
              <a:t> de una clase.</a:t>
            </a:r>
            <a:r>
              <a:rPr lang="en-US" sz="1400"/>
              <a:t>​</a:t>
            </a:r>
            <a:br>
              <a:rPr lang="en-US" sz="1400"/>
            </a:br>
            <a:r>
              <a:rPr lang="en-US" sz="1400">
                <a:solidFill>
                  <a:srgbClr val="00C777"/>
                </a:solidFill>
              </a:rPr>
              <a:t>Es una unidad que contiene datos (atributos) y comportamientos (métodos), creados a partir de una clase.</a:t>
            </a:r>
            <a:r>
              <a:rPr lang="en-US" sz="1400"/>
              <a:t>​</a:t>
            </a:r>
            <a:endParaRPr lang="en-US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B9142E1E-C03C-2E03-001D-B0A0038122F8}"/>
              </a:ext>
            </a:extLst>
          </p:cNvPr>
          <p:cNvSpPr/>
          <p:nvPr/>
        </p:nvSpPr>
        <p:spPr>
          <a:xfrm>
            <a:off x="7516226" y="3430397"/>
            <a:ext cx="1587871" cy="233061"/>
          </a:xfrm>
          <a:prstGeom prst="lef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0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42608-E839-B384-9D6F-2716442B4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 4 PILARES DE LA POO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7FEE3-2C85-15D7-C9FB-587D132F7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Encapsulation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→ </a:t>
            </a:r>
            <a:r>
              <a:rPr lang="en-US" dirty="0" err="1">
                <a:ea typeface="+mn-lt"/>
                <a:cs typeface="+mn-lt"/>
              </a:rPr>
              <a:t>Ocultar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datos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internos</a:t>
            </a:r>
            <a:r>
              <a:rPr lang="en-US" dirty="0">
                <a:ea typeface="+mn-lt"/>
                <a:cs typeface="+mn-lt"/>
              </a:rPr>
              <a:t> del </a:t>
            </a:r>
            <a:r>
              <a:rPr lang="en-US" dirty="0" err="1">
                <a:ea typeface="+mn-lt"/>
                <a:cs typeface="+mn-lt"/>
              </a:rPr>
              <a:t>objeto</a:t>
            </a:r>
            <a:r>
              <a:rPr lang="en-US" dirty="0">
                <a:ea typeface="+mn-lt"/>
                <a:cs typeface="+mn-lt"/>
              </a:rPr>
              <a:t> y </a:t>
            </a:r>
            <a:r>
              <a:rPr lang="en-US" dirty="0" err="1">
                <a:ea typeface="+mn-lt"/>
                <a:cs typeface="+mn-lt"/>
              </a:rPr>
              <a:t>controlar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acceso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Abstraction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→ </a:t>
            </a:r>
            <a:r>
              <a:rPr lang="en-US" dirty="0" err="1">
                <a:ea typeface="+mn-lt"/>
                <a:cs typeface="+mn-lt"/>
              </a:rPr>
              <a:t>Mostrar</a:t>
            </a:r>
            <a:r>
              <a:rPr lang="en-US" dirty="0">
                <a:ea typeface="+mn-lt"/>
                <a:cs typeface="+mn-lt"/>
              </a:rPr>
              <a:t> solo lo </a:t>
            </a:r>
            <a:r>
              <a:rPr lang="en-US" dirty="0" err="1">
                <a:ea typeface="+mn-lt"/>
                <a:cs typeface="+mn-lt"/>
              </a:rPr>
              <a:t>necesario</a:t>
            </a:r>
            <a:r>
              <a:rPr lang="en-US" dirty="0">
                <a:ea typeface="+mn-lt"/>
                <a:cs typeface="+mn-lt"/>
              </a:rPr>
              <a:t> y </a:t>
            </a:r>
            <a:r>
              <a:rPr lang="en-US" dirty="0" err="1">
                <a:ea typeface="+mn-lt"/>
                <a:cs typeface="+mn-lt"/>
              </a:rPr>
              <a:t>ocultar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detalles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complejos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Inheritance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→ </a:t>
            </a:r>
            <a:r>
              <a:rPr lang="en-US" dirty="0" err="1">
                <a:ea typeface="+mn-lt"/>
                <a:cs typeface="+mn-lt"/>
              </a:rPr>
              <a:t>Permitir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una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herede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atributos</a:t>
            </a:r>
            <a:r>
              <a:rPr lang="en-US" dirty="0">
                <a:ea typeface="+mn-lt"/>
                <a:cs typeface="+mn-lt"/>
              </a:rPr>
              <a:t> y </a:t>
            </a:r>
            <a:r>
              <a:rPr lang="en-US" dirty="0" err="1">
                <a:ea typeface="+mn-lt"/>
                <a:cs typeface="+mn-lt"/>
              </a:rPr>
              <a:t>métodos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otra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Polymorphism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→ </a:t>
            </a:r>
            <a:r>
              <a:rPr lang="en-US" dirty="0" err="1">
                <a:ea typeface="+mn-lt"/>
                <a:cs typeface="+mn-lt"/>
              </a:rPr>
              <a:t>Permitir</a:t>
            </a:r>
            <a:r>
              <a:rPr lang="en-US" dirty="0">
                <a:ea typeface="+mn-lt"/>
                <a:cs typeface="+mn-lt"/>
              </a:rPr>
              <a:t> que un </a:t>
            </a:r>
            <a:r>
              <a:rPr lang="en-US" dirty="0" err="1">
                <a:ea typeface="+mn-lt"/>
                <a:cs typeface="+mn-lt"/>
              </a:rPr>
              <a:t>mismo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método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comporte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diferentes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formas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según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objeto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40521-C1A3-EDAF-1F8A-54797314C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773" y="2277264"/>
            <a:ext cx="3761927" cy="286118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 err="1"/>
              <a:t>Encapsulamiento</a:t>
            </a:r>
          </a:p>
          <a:p>
            <a:r>
              <a:rPr lang="en-US" sz="3200" dirty="0" err="1"/>
              <a:t>Abstraccion</a:t>
            </a:r>
          </a:p>
          <a:p>
            <a:r>
              <a:rPr lang="en-US" sz="3200" dirty="0" err="1"/>
              <a:t>Herencia</a:t>
            </a:r>
            <a:endParaRPr lang="en-US" sz="3200"/>
          </a:p>
          <a:p>
            <a:r>
              <a:rPr lang="en-US" sz="3200" dirty="0" err="1"/>
              <a:t>Polimorfismo</a:t>
            </a:r>
            <a:endParaRPr lang="en-US" sz="32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D8FFD-FA79-A111-E1F8-5DAAB38E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B08-A79A-4711-A800-D9C887A03C1E}" type="datetime1">
              <a:t>8/4/2025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E86F3-D0C2-F32F-6F37-FBF52D1EF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1857E-F378-782B-931D-33FCB509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35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2F7C3-2B4E-AC9E-D9AC-16EC585A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291" y="629383"/>
            <a:ext cx="9956747" cy="14387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 err="1"/>
              <a:t>Comparación</a:t>
            </a:r>
            <a:r>
              <a:rPr lang="en-US" sz="4800" dirty="0"/>
              <a:t> de Java y Python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4912B42-3E10-EFF4-8EF8-6E937522DC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5345450"/>
              </p:ext>
            </p:extLst>
          </p:nvPr>
        </p:nvGraphicFramePr>
        <p:xfrm>
          <a:off x="1115324" y="2517795"/>
          <a:ext cx="9956799" cy="387096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3318933">
                  <a:extLst>
                    <a:ext uri="{9D8B030D-6E8A-4147-A177-3AD203B41FA5}">
                      <a16:colId xmlns:a16="http://schemas.microsoft.com/office/drawing/2014/main" val="3185209153"/>
                    </a:ext>
                  </a:extLst>
                </a:gridCol>
                <a:gridCol w="3318933">
                  <a:extLst>
                    <a:ext uri="{9D8B030D-6E8A-4147-A177-3AD203B41FA5}">
                      <a16:colId xmlns:a16="http://schemas.microsoft.com/office/drawing/2014/main" val="3548076692"/>
                    </a:ext>
                  </a:extLst>
                </a:gridCol>
                <a:gridCol w="3318933">
                  <a:extLst>
                    <a:ext uri="{9D8B030D-6E8A-4147-A177-3AD203B41FA5}">
                      <a16:colId xmlns:a16="http://schemas.microsoft.com/office/drawing/2014/main" val="1132846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Concepto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08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 err="1">
                          <a:solidFill>
                            <a:schemeClr val="bg1"/>
                          </a:solidFill>
                        </a:rPr>
                        <a:t>Sintaxis</a:t>
                      </a:r>
                      <a:endParaRPr 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Flexible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err="1">
                          <a:solidFill>
                            <a:schemeClr val="bg1"/>
                          </a:solidFill>
                        </a:rPr>
                        <a:t>Estricta</a:t>
                      </a:r>
                      <a:endParaRPr 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846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 err="1">
                          <a:solidFill>
                            <a:schemeClr val="bg1"/>
                          </a:solidFill>
                        </a:rPr>
                        <a:t>Tipado</a:t>
                      </a:r>
                      <a:endParaRPr 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err="1">
                          <a:solidFill>
                            <a:schemeClr val="bg1"/>
                          </a:solidFill>
                        </a:rPr>
                        <a:t>Dinámico</a:t>
                      </a:r>
                      <a:endParaRPr 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err="1">
                          <a:solidFill>
                            <a:schemeClr val="bg1"/>
                          </a:solidFill>
                        </a:rPr>
                        <a:t>Estático</a:t>
                      </a:r>
                      <a:endParaRPr 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712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main()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</a:rPr>
                        <a:t>obligatorio</a:t>
                      </a:r>
                      <a:endParaRPr 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err="1">
                          <a:solidFill>
                            <a:schemeClr val="bg1"/>
                          </a:solidFill>
                        </a:rPr>
                        <a:t>Sí</a:t>
                      </a:r>
                      <a:endParaRPr 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651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 err="1">
                          <a:solidFill>
                            <a:schemeClr val="bg1"/>
                          </a:solidFill>
                        </a:rPr>
                        <a:t>Indentación</a:t>
                      </a:r>
                      <a:endParaRPr 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err="1">
                          <a:solidFill>
                            <a:schemeClr val="bg1"/>
                          </a:solidFill>
                        </a:rPr>
                        <a:t>Estructura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3200" err="1">
                          <a:solidFill>
                            <a:schemeClr val="bg1"/>
                          </a:solidFill>
                        </a:rPr>
                        <a:t>el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3200" err="1">
                          <a:solidFill>
                            <a:schemeClr val="bg1"/>
                          </a:solidFill>
                        </a:rPr>
                        <a:t>código</a:t>
                      </a:r>
                      <a:endParaRPr 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Solo </a:t>
                      </a:r>
                      <a:r>
                        <a:rPr lang="en-US" sz="3200" err="1">
                          <a:solidFill>
                            <a:schemeClr val="bg1"/>
                          </a:solidFill>
                        </a:rPr>
                        <a:t>estilo</a:t>
                      </a:r>
                      <a:endParaRPr 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385023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6C502-A04F-0073-EBDD-281760B82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B46A-72EE-4A5E-9021-A070B3D876C0}" type="datetime1">
              <a:t>8/4/2025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ECD48-4EBC-87ED-BCE5-FC3C0433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1D479-2B92-1646-5E8C-395EF40E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075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650F-51EC-5879-2627-51A47FB5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48" y="620202"/>
            <a:ext cx="11297132" cy="14387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EJEMPLO DE UN PROGRAMA EN 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CFBD7-970E-FDDC-74E9-29B2EE64E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479" y="2288420"/>
            <a:ext cx="9956747" cy="3870181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>
                <a:ea typeface="+mn-lt"/>
                <a:cs typeface="+mn-lt"/>
              </a:rPr>
              <a:t>public class HolaMundo {</a:t>
            </a:r>
            <a:endParaRPr lang="en-US" sz="3600"/>
          </a:p>
          <a:p>
            <a:pPr marL="0" indent="0">
              <a:buNone/>
            </a:pPr>
            <a:r>
              <a:rPr lang="en-US" sz="3600">
                <a:ea typeface="+mn-lt"/>
                <a:cs typeface="+mn-lt"/>
              </a:rPr>
              <a:t>    public static void main(String[] args) {</a:t>
            </a:r>
            <a:endParaRPr lang="en-US" sz="3600"/>
          </a:p>
          <a:p>
            <a:pPr marL="0" indent="0">
              <a:buNone/>
            </a:pPr>
            <a:r>
              <a:rPr lang="en-US" sz="3600" dirty="0">
                <a:ea typeface="+mn-lt"/>
                <a:cs typeface="+mn-lt"/>
              </a:rPr>
              <a:t>        </a:t>
            </a:r>
            <a:r>
              <a:rPr lang="en-US" sz="3600" err="1">
                <a:ea typeface="+mn-lt"/>
                <a:cs typeface="+mn-lt"/>
              </a:rPr>
              <a:t>System.out.println</a:t>
            </a:r>
            <a:r>
              <a:rPr lang="en-US" sz="3600">
                <a:ea typeface="+mn-lt"/>
                <a:cs typeface="+mn-lt"/>
              </a:rPr>
              <a:t>("Hola Mundo");</a:t>
            </a:r>
            <a:endParaRPr lang="en-US" sz="3600"/>
          </a:p>
          <a:p>
            <a:pPr marL="0" indent="0">
              <a:buNone/>
            </a:pPr>
            <a:r>
              <a:rPr lang="en-US" sz="3600" dirty="0">
                <a:ea typeface="+mn-lt"/>
                <a:cs typeface="+mn-lt"/>
              </a:rPr>
              <a:t>    </a:t>
            </a:r>
            <a:r>
              <a:rPr lang="en-US" sz="3600">
                <a:ea typeface="+mn-lt"/>
                <a:cs typeface="+mn-lt"/>
              </a:rPr>
              <a:t>}</a:t>
            </a:r>
            <a:endParaRPr lang="en-US" sz="3600"/>
          </a:p>
          <a:p>
            <a:pPr marL="0" indent="0">
              <a:buNone/>
            </a:pPr>
            <a:r>
              <a:rPr lang="en-US" sz="3600">
                <a:ea typeface="+mn-lt"/>
                <a:cs typeface="+mn-lt"/>
              </a:rPr>
              <a:t>}</a:t>
            </a:r>
            <a:endParaRPr lang="en-US" sz="36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BB691-E861-6F19-111F-95FF40B9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9DBB-A7E6-4295-8DCA-986745530F86}" type="datetime1"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7E798-4D28-1B48-EC46-A48DF8FBD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A6B29-D3F8-997E-9964-83CBC0C3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580297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DylanVTI</vt:lpstr>
      <vt:lpstr>Programación Java y POO</vt:lpstr>
      <vt:lpstr>PowerPoint Presentation</vt:lpstr>
      <vt:lpstr>¿Que aprenderemos hoy?</vt:lpstr>
      <vt:lpstr>¿Qué es Java?</vt:lpstr>
      <vt:lpstr>Características clave de Java</vt:lpstr>
      <vt:lpstr>¿Qué es la programación orientada a objetos?</vt:lpstr>
      <vt:lpstr>LOS 4 PILARES DE LA POO</vt:lpstr>
      <vt:lpstr>Comparación de Java y Python</vt:lpstr>
      <vt:lpstr>EJEMPLO DE UN PROGRAMA EN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397</cp:revision>
  <dcterms:created xsi:type="dcterms:W3CDTF">2025-08-04T20:32:01Z</dcterms:created>
  <dcterms:modified xsi:type="dcterms:W3CDTF">2025-08-05T03:37:42Z</dcterms:modified>
</cp:coreProperties>
</file>